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5" r:id="rId3"/>
    <p:sldId id="276" r:id="rId4"/>
    <p:sldId id="283" r:id="rId5"/>
    <p:sldId id="260" r:id="rId6"/>
    <p:sldId id="277" r:id="rId7"/>
    <p:sldId id="274" r:id="rId8"/>
    <p:sldId id="289" r:id="rId9"/>
    <p:sldId id="261" r:id="rId10"/>
    <p:sldId id="262" r:id="rId11"/>
    <p:sldId id="284" r:id="rId12"/>
    <p:sldId id="285" r:id="rId13"/>
    <p:sldId id="287" r:id="rId14"/>
    <p:sldId id="288" r:id="rId15"/>
    <p:sldId id="271" r:id="rId16"/>
    <p:sldId id="279" r:id="rId17"/>
    <p:sldId id="280" r:id="rId18"/>
    <p:sldId id="281" r:id="rId19"/>
    <p:sldId id="282" r:id="rId20"/>
    <p:sldId id="272" r:id="rId21"/>
    <p:sldId id="278" r:id="rId22"/>
    <p:sldId id="273" r:id="rId23"/>
  </p:sldIdLst>
  <p:sldSz cx="18288000" cy="10287000"/>
  <p:notesSz cx="6858000" cy="9144000"/>
  <p:embeddedFontLst>
    <p:embeddedFont>
      <p:font typeface="Abhaya Libre Bold" panose="020B0604020202020204" charset="0"/>
      <p:regular r:id="rId24"/>
    </p:embeddedFont>
    <p:embeddedFont>
      <p:font typeface="Alatsi" panose="020B0604020202020204" charset="0"/>
      <p:regular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  <p:embeddedFont>
      <p:font typeface="Open Sans Bold" panose="020B0806030504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>
        <p:scale>
          <a:sx n="50" d="100"/>
          <a:sy n="50" d="100"/>
        </p:scale>
        <p:origin x="9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dx.doi.org/10.12785/ijcds/1571116746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12646898" y="-2101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18095" y="9258300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208013" y="2652587"/>
            <a:ext cx="13279410" cy="292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0"/>
              </a:lnSpc>
            </a:pPr>
            <a:r>
              <a:rPr lang="en-US" sz="6000" b="1" dirty="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MAJOR PROJECT PHASE 2</a:t>
            </a:r>
          </a:p>
          <a:p>
            <a:pPr algn="ctr">
              <a:lnSpc>
                <a:spcPts val="5820"/>
              </a:lnSpc>
            </a:pP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Swarm Intelligent Framework for Knowledge Transfer Between Heterogeneous Machine Learning Models in Multi Robot Systems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799298" y="-57792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625166" y="5902660"/>
            <a:ext cx="8445103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By : Mr. Zaheed Hussain 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192500" y="9794"/>
            <a:ext cx="2095500" cy="2342611"/>
          </a:xfrm>
          <a:custGeom>
            <a:avLst/>
            <a:gdLst/>
            <a:ahLst/>
            <a:cxnLst/>
            <a:rect l="l" t="t" r="r" b="b"/>
            <a:pathLst>
              <a:path w="2095500" h="2342611">
                <a:moveTo>
                  <a:pt x="0" y="0"/>
                </a:moveTo>
                <a:lnTo>
                  <a:pt x="2095500" y="0"/>
                </a:lnTo>
                <a:lnTo>
                  <a:pt x="2095500" y="2342612"/>
                </a:lnTo>
                <a:lnTo>
                  <a:pt x="0" y="2342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422017" y="309976"/>
            <a:ext cx="11861277" cy="153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5"/>
              </a:lnSpc>
            </a:pPr>
            <a:r>
              <a:rPr lang="en-US" sz="65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KISHKINDA UNIVERSITY</a:t>
            </a:r>
          </a:p>
          <a:p>
            <a:pPr algn="ctr">
              <a:lnSpc>
                <a:spcPts val="1940"/>
              </a:lnSpc>
            </a:pPr>
            <a:endParaRPr lang="en-US" sz="6500">
              <a:solidFill>
                <a:srgbClr val="000000"/>
              </a:solidFill>
              <a:latin typeface="Alatsi"/>
              <a:ea typeface="Alatsi"/>
              <a:cs typeface="Alatsi"/>
              <a:sym typeface="Alatsi"/>
            </a:endParaRPr>
          </a:p>
          <a:p>
            <a:pPr algn="ctr">
              <a:lnSpc>
                <a:spcPts val="387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2288" y="6700490"/>
            <a:ext cx="4251614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(KUB24MCS018)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77041" y="7353300"/>
            <a:ext cx="6882108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Project Guide</a:t>
            </a:r>
          </a:p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Dr. RAJASHREE V BIRADAR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CHAIRPERSON -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91340" y="1673225"/>
            <a:ext cx="14705320" cy="675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LITERATURE SURVEY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EXISTING VS PROPOSED SYSTEM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PROBLEM STATEMENT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OBJECTIVES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 DESIGN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  <a:p>
            <a:pPr marL="902546" lvl="1" indent="-451273" algn="just">
              <a:lnSpc>
                <a:spcPts val="5852"/>
              </a:lnSpc>
              <a:buFont typeface="Arial"/>
              <a:buChar char="•"/>
            </a:pPr>
            <a:r>
              <a:rPr lang="en-US" sz="418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REFERENCES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764167" y="6208199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895600" y="58848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TABLE OF CONTENTS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0028" y="1677772"/>
            <a:ext cx="16229272" cy="58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553980" y="30162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2465A5-9723-3864-A7A9-4DA5EB792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12" y="1230507"/>
            <a:ext cx="17888811" cy="899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D6D6-11BA-D86C-E616-7439BDA9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265F089-BD78-2366-A095-57516AC31B74}"/>
              </a:ext>
            </a:extLst>
          </p:cNvPr>
          <p:cNvSpPr txBox="1"/>
          <p:nvPr/>
        </p:nvSpPr>
        <p:spPr>
          <a:xfrm>
            <a:off x="1030028" y="1677772"/>
            <a:ext cx="16229272" cy="587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endParaRPr lang="en-US" sz="35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233AC7-7A0B-17B1-3653-7F91FBD8E974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5EDED67-EB44-EEFC-17D4-2C5AE38CDB7C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875ABDA-74B9-C085-55F3-DB49ED098182}"/>
              </a:ext>
            </a:extLst>
          </p:cNvPr>
          <p:cNvSpPr txBox="1"/>
          <p:nvPr/>
        </p:nvSpPr>
        <p:spPr>
          <a:xfrm>
            <a:off x="2553980" y="30162"/>
            <a:ext cx="1318003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INTRODUCTION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E63D3C9-1BA8-262E-4F25-F6C561D5D48B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86278B10-F300-32EE-7BE3-1FED978B9A45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1DBA9BA2-73BD-F6D6-0E4E-E10E658FAEA0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50D7CAC-7732-291C-E2DB-FB2EBABCF13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233797F-26A8-5539-7114-7DE0462D05FD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A3AEB4AA-0F6B-129D-FC0C-FBD7C30BA3D9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79EF8B1-6080-806B-5ABB-9C8520BEF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499" y="1549922"/>
            <a:ext cx="14859000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Modern multi-robot systems often employ diverse AI models such as CNNs, Transformers, YOLO,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PointNet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Vision Transformers.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Existing knowledge-sharing approaches are limited by model heterogeneity, communication overhead, and retraining requirements.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Enabling effective collaboration among heterogeneous robots remains a significant challenge.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work proposes a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Swarm Intelligent, Model-Agnostic Knowledge Transfer Framework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that facilitates real-time knowledge sharing without exchanging raw data or model parameters.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collective memory mechanism enables robots to store, retrieve, integrate, and evolve shared knowledge, fostering collaborative intelligence. </a:t>
            </a:r>
          </a:p>
        </p:txBody>
      </p:sp>
    </p:spTree>
    <p:extLst>
      <p:ext uri="{BB962C8B-B14F-4D97-AF65-F5344CB8AC3E}">
        <p14:creationId xmlns:p14="http://schemas.microsoft.com/office/powerpoint/2010/main" val="215259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97303" y="-336638"/>
            <a:ext cx="15093393" cy="1363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5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Literature Survey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802455" y="0"/>
            <a:ext cx="1562613" cy="1673225"/>
            <a:chOff x="-75600" y="0"/>
            <a:chExt cx="2083483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-75600" y="127408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9016916-EAD3-849C-B57A-6B41DDCF4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8288000" cy="10229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D0BED-0925-6763-F19E-8EF2026E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17E8717F-4238-6978-D551-EDD7282CADFE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AEFE4CB-1D7C-AB23-00AF-4F9AE0F8ECA8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EE2CFD5-99DE-FB54-0A75-733CF975B53A}"/>
              </a:ext>
            </a:extLst>
          </p:cNvPr>
          <p:cNvSpPr txBox="1"/>
          <p:nvPr/>
        </p:nvSpPr>
        <p:spPr>
          <a:xfrm>
            <a:off x="1597303" y="-336638"/>
            <a:ext cx="15093393" cy="1363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65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Literature Survey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FEEC259-01C0-04C7-91C1-FFC2B8B44EA5}"/>
              </a:ext>
            </a:extLst>
          </p:cNvPr>
          <p:cNvGrpSpPr/>
          <p:nvPr/>
        </p:nvGrpSpPr>
        <p:grpSpPr>
          <a:xfrm>
            <a:off x="15802455" y="0"/>
            <a:ext cx="1562613" cy="1673225"/>
            <a:chOff x="-75600" y="0"/>
            <a:chExt cx="2083483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865E107-7D89-7A27-9ED6-46B4EE5335B9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39EACC4-DB2D-892F-FCD9-E538EB294F9A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BA6EA1A-1205-93DB-1588-5D542D94D79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0C59C79-6C7A-650C-9F9B-B54CC4C25545}"/>
                </a:ext>
              </a:extLst>
            </p:cNvPr>
            <p:cNvSpPr txBox="1"/>
            <p:nvPr/>
          </p:nvSpPr>
          <p:spPr>
            <a:xfrm>
              <a:off x="-75600" y="127408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18D53DB-FA43-E35D-AFE5-542CB278C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32"/>
            <a:ext cx="18288000" cy="1025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4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431D0-8695-89B5-1886-3D9FDDDD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177216B-44A4-0907-C9F0-B01A40844CA1}"/>
              </a:ext>
            </a:extLst>
          </p:cNvPr>
          <p:cNvSpPr txBox="1"/>
          <p:nvPr/>
        </p:nvSpPr>
        <p:spPr>
          <a:xfrm>
            <a:off x="1030028" y="3126845"/>
            <a:ext cx="162306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sz="400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6F9B7C7-5D91-AD31-13CD-299071A6C9D3}"/>
              </a:ext>
            </a:extLst>
          </p:cNvPr>
          <p:cNvSpPr txBox="1"/>
          <p:nvPr/>
        </p:nvSpPr>
        <p:spPr>
          <a:xfrm>
            <a:off x="1219200" y="1760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Existing vs Proposed System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D76535D-98D4-B8EC-D2A9-AF0F8F6E95C8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77FF4C2-0805-A9A3-EB45-45AA7A698071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3A0257F-5BEC-F100-B4D8-B1F5373BFB46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E182C4BB-4AC8-3A78-ECCA-4F09BD029D9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B9DF7A3-2F0A-C976-0842-FAEA1B571145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777B23D-B143-60EB-3F9E-CC057ADFA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8288001" cy="1026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94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7A22-F467-EB93-068B-633A8129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E39D38-548F-7EFC-7C2A-5BB1D77A3053}"/>
              </a:ext>
            </a:extLst>
          </p:cNvPr>
          <p:cNvSpPr txBox="1"/>
          <p:nvPr/>
        </p:nvSpPr>
        <p:spPr>
          <a:xfrm>
            <a:off x="1030028" y="3126845"/>
            <a:ext cx="16230600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4000" dirty="0"/>
              <a:t>Heterogeneous machine learning models in multi-robot systems lack a unified mechanism for real-time knowledge sharing, leading to redundant inference and inefficient resource utilization.</a:t>
            </a:r>
          </a:p>
          <a:p>
            <a:pPr algn="just"/>
            <a:endParaRPr lang="en-US" sz="4000" dirty="0"/>
          </a:p>
          <a:p>
            <a:pPr algn="just"/>
            <a:endParaRPr lang="en-US" sz="4000" dirty="0"/>
          </a:p>
          <a:p>
            <a:r>
              <a:rPr lang="en-US" sz="4000" dirty="0"/>
              <a:t>To design and develop a decentralized swarm-intelligent framework for model-agnostic knowledge transfer among heterogeneous machine learning models.</a:t>
            </a:r>
          </a:p>
          <a:p>
            <a:endParaRPr lang="en-US" sz="40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3039D44-8351-F57B-22C5-04F4B08D6804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B1AFFA5-A836-1F3C-5DCD-807563307B1B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B5E7E54-A7B5-DC99-07FA-917D5EBFA5D1}"/>
              </a:ext>
            </a:extLst>
          </p:cNvPr>
          <p:cNvSpPr txBox="1"/>
          <p:nvPr/>
        </p:nvSpPr>
        <p:spPr>
          <a:xfrm>
            <a:off x="1597304" y="1361996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Problem Statement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10A29DC-47C5-86D9-05EC-A4032EB3933C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3B51426-0289-C10F-D2B0-2FA9C8C933D7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AF101FC-E0BB-996E-9420-2F595DAB2408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4AF25BF5-B61B-7338-3198-8F38CD30C5A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531D1EB-16CA-7A54-9018-2CC7ADE038DC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2BA128C7-739F-DDC4-7305-22E146464B14}"/>
              </a:ext>
            </a:extLst>
          </p:cNvPr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77787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6118" y="2015281"/>
            <a:ext cx="15715764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sz="3600" dirty="0"/>
              <a:t>To design and develop a decentralized swarm-intelligent framework that enables knowledge sharing among heterogeneous machine learning models in multi-robot systems.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/>
              <a:t>To design a knowledge packet mechanism that captures object labels, confidence scores, timestamps, and agent information for inter-agent knowledge sharing.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/>
              <a:t>To implement a collective memory framework that stores and distributes the highest-confidence perception knowledge among agents, reducing redundant inference and storage.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/>
              <a:t>To evaluate the impact of knowledge sharing on model performance, knowledge reuse, and inference efficiency through comparative analysis before and after knowledge transfer.</a:t>
            </a:r>
          </a:p>
        </p:txBody>
      </p:sp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97304" y="343630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Objectives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B2EDD39-8FDA-4920-35AB-FCD9B4622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4AD55-47AF-29A8-BB27-50AB4E58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AA6AA5DA-A12C-D65E-1403-46F9F494CCCB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472AFBB-DA06-D2C1-4EE2-23016206A798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1FB65EB-EF92-D6B3-B47A-DA3FCB7A7A29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D2EFD911-4C5E-9F00-B5C8-3C954FFA9094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072B2E5-C571-8908-56F6-3E3B821484FC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D61236D-0CA0-05A6-4660-3FDD76AD648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8C51C62-4073-B3DA-9F3F-3BE4BC43050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4A08D7F-E5E5-24E1-F9B8-2B9D00833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3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9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841E3-E72F-CAD2-E13B-DF924CFB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C2585606-D5FB-3DDC-1BF5-974A1E4B9F70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BB08DDD-50B0-A01F-4C6D-3B7CE080BDD1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6A21161-1D6F-AA3A-F746-263312D33335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0AA7F17-2DB9-C4E3-E358-0B4DB82F2C9C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8D96BF8-9647-1C5E-99CF-62F594A7AEF5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6E6201DD-1511-C645-680B-D8DC345F5FFA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3CD299B-282E-7D31-B71D-741554FCBCE2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C1ADB9E-6DAF-810A-54C7-BFC6F7422BA1}"/>
              </a:ext>
            </a:extLst>
          </p:cNvPr>
          <p:cNvSpPr txBox="1"/>
          <p:nvPr/>
        </p:nvSpPr>
        <p:spPr>
          <a:xfrm>
            <a:off x="1913871" y="1094594"/>
            <a:ext cx="14741337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Stage 1: </a:t>
            </a:r>
            <a:r>
              <a:rPr lang="en-IN" sz="4000" dirty="0"/>
              <a:t>Video Input &amp; Frame Extraction,  Input video is provided to the system.</a:t>
            </a:r>
          </a:p>
          <a:p>
            <a:r>
              <a:rPr lang="en-IN" sz="4000" dirty="0"/>
              <a:t>Video is divided into multiple frames for analysis.</a:t>
            </a:r>
          </a:p>
          <a:p>
            <a:r>
              <a:rPr lang="en-IN" sz="4000" dirty="0"/>
              <a:t>Each frame is processed independently.</a:t>
            </a:r>
          </a:p>
          <a:p>
            <a:r>
              <a:rPr lang="en-IN" sz="4000" b="1" dirty="0"/>
              <a:t>Stage 2: </a:t>
            </a:r>
            <a:r>
              <a:rPr lang="en-IN" sz="4000" dirty="0"/>
              <a:t>Perception by Heterogeneous Agents - Multiple agents use different ML models.</a:t>
            </a:r>
          </a:p>
          <a:p>
            <a:r>
              <a:rPr lang="en-IN" sz="4000" dirty="0"/>
              <a:t>Agent 1 – </a:t>
            </a:r>
            <a:r>
              <a:rPr lang="en-IN" sz="4000" dirty="0" err="1"/>
              <a:t>MobileNet</a:t>
            </a:r>
            <a:r>
              <a:rPr lang="en-IN" sz="4000" dirty="0"/>
              <a:t>, Agent 2 – </a:t>
            </a:r>
            <a:r>
              <a:rPr lang="en-IN" sz="4000" dirty="0" err="1"/>
              <a:t>EfficientNet</a:t>
            </a:r>
            <a:r>
              <a:rPr lang="en-IN" sz="4000" dirty="0"/>
              <a:t>, Agent 3 – </a:t>
            </a:r>
            <a:r>
              <a:rPr lang="en-IN" sz="4000" dirty="0" err="1"/>
              <a:t>ResNet</a:t>
            </a:r>
            <a:endParaRPr lang="en-IN" sz="4000" dirty="0"/>
          </a:p>
          <a:p>
            <a:r>
              <a:rPr lang="en-IN" sz="4000" dirty="0"/>
              <a:t>Each agent predicts the object class and confidence score.</a:t>
            </a:r>
          </a:p>
          <a:p>
            <a:r>
              <a:rPr lang="en-IN" sz="4000" b="1" dirty="0"/>
              <a:t>Stage 3: </a:t>
            </a:r>
            <a:r>
              <a:rPr lang="en-IN" sz="4000" dirty="0"/>
              <a:t>Knowledge Packet Generation - Every agent creates a knowledge packet containing: Frame ID, Predicted Label, Confidence Score, Timestamp, Agent ID.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4B73AA-8FD9-2D0E-8A46-9A3C06952AF7}"/>
              </a:ext>
            </a:extLst>
          </p:cNvPr>
          <p:cNvSpPr txBox="1"/>
          <p:nvPr/>
        </p:nvSpPr>
        <p:spPr>
          <a:xfrm>
            <a:off x="3962400" y="-198510"/>
            <a:ext cx="9438966" cy="14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5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6739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2CBB-B602-15F5-ED2B-051B7EB01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E49536EC-4038-C1F3-849D-DAF8D7F5522F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8CA0711-955E-9E07-AFFB-B10A799927A5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05707BF-25D9-CEB3-9B60-1624BF4936B6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E3748F82-A0BB-DE72-C6B3-62AB10067733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4018F498-E0A7-C9FE-340F-91E33F9A2ACC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DB5E60A6-EC2D-49F3-D127-B98C706E2FF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4599AD9-ABC4-747D-9F7D-652AB1EF0085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E82801D-5CBD-A42A-DA02-62647234028F}"/>
              </a:ext>
            </a:extLst>
          </p:cNvPr>
          <p:cNvSpPr txBox="1"/>
          <p:nvPr/>
        </p:nvSpPr>
        <p:spPr>
          <a:xfrm>
            <a:off x="1913871" y="1094594"/>
            <a:ext cx="14741337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Stage 4: </a:t>
            </a:r>
            <a:r>
              <a:rPr lang="en-IN" sz="4000" dirty="0"/>
              <a:t>Collective Memory Formation - Knowledge packets from all agents are stored.</a:t>
            </a:r>
          </a:p>
          <a:p>
            <a:r>
              <a:rPr lang="en-IN" sz="4000" dirty="0"/>
              <a:t>For each frame, the packet with the highest confidence score is selected and  Selected knowledge is stored in Collective Memory.</a:t>
            </a:r>
          </a:p>
          <a:p>
            <a:r>
              <a:rPr lang="en-IN" sz="4000" b="1" dirty="0"/>
              <a:t>Stage 5: </a:t>
            </a:r>
            <a:r>
              <a:rPr lang="en-IN" sz="4000" dirty="0"/>
              <a:t>Swarm Knowledge Transfer - Best knowledge from Collective Memory is shared with other agents.</a:t>
            </a:r>
          </a:p>
          <a:p>
            <a:r>
              <a:rPr lang="en-IN" sz="4000" dirty="0"/>
              <a:t>Agents update their internal understanding using received knowledge.</a:t>
            </a:r>
          </a:p>
          <a:p>
            <a:r>
              <a:rPr lang="en-IN" sz="4000" dirty="0"/>
              <a:t>No model weights or raw data are exchanged.</a:t>
            </a:r>
          </a:p>
          <a:p>
            <a:r>
              <a:rPr lang="en-IN" sz="4000" b="1" dirty="0"/>
              <a:t>Stage 6: </a:t>
            </a:r>
            <a:r>
              <a:rPr lang="en-IN" sz="4000" dirty="0"/>
              <a:t>Output &amp; Evaluation -  Agents perform prediction after knowledge transfer.</a:t>
            </a:r>
          </a:p>
          <a:p>
            <a:r>
              <a:rPr lang="en-IN" sz="4000" dirty="0"/>
              <a:t>Accuracy before and after relearning is compared and  Improvement in collaboration and decision-making is measured.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7347C6-C628-B943-6DD2-F1242C8C5890}"/>
              </a:ext>
            </a:extLst>
          </p:cNvPr>
          <p:cNvSpPr txBox="1"/>
          <p:nvPr/>
        </p:nvSpPr>
        <p:spPr>
          <a:xfrm>
            <a:off x="3962400" y="-198510"/>
            <a:ext cx="9438966" cy="14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5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85627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1E542-0A0D-9456-D7E9-F495140B8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7562EEC-CD09-9FA9-B464-413A1C6CBC70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F351297-B105-071C-076E-9B929589FC7C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845872-DD25-BFCA-9D3C-4CF5426FD2D9}"/>
              </a:ext>
            </a:extLst>
          </p:cNvPr>
          <p:cNvSpPr txBox="1"/>
          <p:nvPr/>
        </p:nvSpPr>
        <p:spPr>
          <a:xfrm>
            <a:off x="1597303" y="-502246"/>
            <a:ext cx="15093393" cy="1295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45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Flow Chart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7464DEA-EBD8-AB52-AD87-ECADDD68FAC7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6EBC59F-930E-2B44-986C-307C9BC8A16D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3202470E-B03B-314C-4AC1-9781D659E7C0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CCE7468-C747-7604-28CB-C8D887989F2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D5D6188-C3DD-04FC-B02F-E5E56A24944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1A2314F-7A56-24C3-CC73-7182D85EC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517" y="844232"/>
            <a:ext cx="7772400" cy="91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3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597304" y="-161925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Results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6" name="Group 6"/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AB262F0-757F-92F8-FAE4-AC5CD2708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954" y="1752306"/>
            <a:ext cx="12132091" cy="67823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9D6E-BA9A-2CCD-D68A-5897173C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7B2C97F-A88D-59FE-A9DD-343CD3F45AEE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ACD4E9F-DB83-D612-C93F-F112609BE5C4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6B01CC7-5FCA-9DAE-EDB3-AE85CF8871C7}"/>
              </a:ext>
            </a:extLst>
          </p:cNvPr>
          <p:cNvSpPr txBox="1"/>
          <p:nvPr/>
        </p:nvSpPr>
        <p:spPr>
          <a:xfrm>
            <a:off x="1597304" y="-161925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Results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DA8BE1F-269F-8EBE-53D1-3E06A5BE7C2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1BF98EA-E67B-B274-7FE2-2BD8BC76B20B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2715B97B-DFC3-22E1-F40D-CB1AE4204B61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93C75974-2724-1CF8-9EC9-3D543753644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331DEB5-E3C4-555C-6036-AC4C08A4B2D4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E4193D92-EF74-7CB3-7B1A-F95320D7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59" y="1704217"/>
            <a:ext cx="16597908" cy="655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97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8022E-E2C5-00FD-84CC-6E0FDF61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F628E83-F094-DD58-67FF-0C31B7D3A597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93D36C8-D069-C97E-A838-F75C41FEC188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09939F1-293E-B7A9-534B-FFD6F4E0B7F5}"/>
              </a:ext>
            </a:extLst>
          </p:cNvPr>
          <p:cNvSpPr txBox="1"/>
          <p:nvPr/>
        </p:nvSpPr>
        <p:spPr>
          <a:xfrm>
            <a:off x="1597304" y="-161925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Results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9959A4B-0726-C902-28D7-70D7C5263C06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10FBE17-B9CF-CD44-2BFC-3E64C14DA501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BB1800A5-7F1F-153C-3A43-9A3FF7BDF1DC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7D5080E1-0D18-9EC8-18B1-A3EB05F71E1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975AA5D-2DFA-F44A-C771-6416D2782BB2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15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4D205BB-E380-F37D-E7CA-63259BDB8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80" y="1935078"/>
            <a:ext cx="16992240" cy="675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45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2F026-2B50-5B79-6C8C-01813CB1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D5EF6D3-A368-E8D8-57FE-D9C731D3CC41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0375933-7C4D-5CBA-68AE-EC297476A32C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4D103F4-0795-F9A4-CD92-F553AD260335}"/>
              </a:ext>
            </a:extLst>
          </p:cNvPr>
          <p:cNvSpPr txBox="1"/>
          <p:nvPr/>
        </p:nvSpPr>
        <p:spPr>
          <a:xfrm>
            <a:off x="1597304" y="-161925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Results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5787282-A532-EE94-DC3C-E0CB0D2D99E4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074715A-D34E-B1B5-FC77-1BB747E41510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7" name="Freeform 7">
                <a:extLst>
                  <a:ext uri="{FF2B5EF4-FFF2-40B4-BE49-F238E27FC236}">
                    <a16:creationId xmlns:a16="http://schemas.microsoft.com/office/drawing/2014/main" id="{44772B3A-1D7A-5949-30BB-E90B1B753376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183B5AE-BB0D-615C-A65D-5079A086540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72BCE8F-485D-37FE-6A3D-79F776FC1CD3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76975C-8B3A-D567-CDB7-D0907A4B4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77" y="2489295"/>
            <a:ext cx="17556445" cy="482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23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9705-EA79-2425-9920-933CC5D2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167A7C7-2488-8432-416E-072E40A41262}"/>
              </a:ext>
            </a:extLst>
          </p:cNvPr>
          <p:cNvSpPr txBox="1"/>
          <p:nvPr/>
        </p:nvSpPr>
        <p:spPr>
          <a:xfrm>
            <a:off x="1447800" y="3491673"/>
            <a:ext cx="15715764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IN" sz="3600" dirty="0"/>
              <a:t>The proposed framework successfully enables knowledge transfer among heterogeneous machine learning models through swarm intelligence. By sharing high-confidence knowledge packets via collective memory, the system reduces redundant inference, improves model performance, and demonstrates effective collaborative intelligence without exchanging raw data or model parameters.</a:t>
            </a:r>
            <a:endParaRPr lang="en-US" sz="36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F380DCF-C02D-E86E-0AE0-DAA13D3305C8}"/>
              </a:ext>
            </a:extLst>
          </p:cNvPr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0BC7A58-EA5D-68BE-0F72-DD7A64FBAF07}"/>
              </a:ext>
            </a:extLst>
          </p:cNvPr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7593823-A0F3-8187-5877-C4BCD052F209}"/>
              </a:ext>
            </a:extLst>
          </p:cNvPr>
          <p:cNvSpPr txBox="1"/>
          <p:nvPr/>
        </p:nvSpPr>
        <p:spPr>
          <a:xfrm>
            <a:off x="1597304" y="343630"/>
            <a:ext cx="15093393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Conclusion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8530FCA-2F88-5626-6BD1-505999CC2E97}"/>
              </a:ext>
            </a:extLst>
          </p:cNvPr>
          <p:cNvGrpSpPr/>
          <p:nvPr/>
        </p:nvGrpSpPr>
        <p:grpSpPr>
          <a:xfrm>
            <a:off x="15859155" y="0"/>
            <a:ext cx="1562612" cy="1673225"/>
            <a:chOff x="0" y="0"/>
            <a:chExt cx="2083482" cy="2230967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5981001A-8FDA-82D4-8A23-155492DA3A35}"/>
                </a:ext>
              </a:extLst>
            </p:cNvPr>
            <p:cNvGrpSpPr/>
            <p:nvPr/>
          </p:nvGrpSpPr>
          <p:grpSpPr>
            <a:xfrm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3C76FE4-419F-F7AF-7B62-9861563025C8}"/>
                  </a:ext>
                </a:extLst>
              </p:cNvPr>
              <p:cNvSpPr/>
              <p:nvPr/>
            </p:nvSpPr>
            <p:spPr>
              <a:xfrm>
                <a:off x="0" y="0"/>
                <a:ext cx="703982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703982" h="812800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149ADB0-50DC-4DAA-04EA-384A6A4176C5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48F68CB-7ADB-AFCB-B414-9DBECD8CDF3D}"/>
                </a:ext>
              </a:extLst>
            </p:cNvPr>
            <p:cNvSpPr txBox="1"/>
            <p:nvPr/>
          </p:nvSpPr>
          <p:spPr>
            <a:xfrm>
              <a:off x="0" y="437582"/>
              <a:ext cx="2083482" cy="12415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1" dirty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0766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981200" y="-480713"/>
            <a:ext cx="15093393" cy="1312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5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6700" y="836793"/>
            <a:ext cx="17754600" cy="9694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Yubo Yang, Tao Yang, Xiaofeng Wu, Ziyu Guo, Bo Hu, “Efficient UAV swarm based multi task federated learning with dynamic task knowledge sharing,”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arXiv:2503.09144, Mar. 2025,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10.48550/arXiv.2503.09144.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Raza Muhammed Kazim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Guoxin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Zhenjun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Ming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Janet K Allen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Farrokh Mistree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“Design and deployment of swarm engineering systems: Insights, challenges, and innovations,”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vol. 13, pp. 139345–139376, 2025,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10.1109/ACCESS.2025.3592950.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Rafika Saadouni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Chirihane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Gherbi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Zibouda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Aliouat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Yasmine Harbi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Amina Khacha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“Intrusion detection systems for IoT based on bio inspired and machine learning techniques: A systematic review of the literature,”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Computing, vol. 27, pp. 8655–8681, Oct. 2024,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10.1007/s10586 024 04388 5.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Kannan Srinivasan et al., “Federated meta heuristic cryptography algorithm with fuzzy logic model in cloud secure data migration,”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Computing, vol. 28, art. no. 976, 2025,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10.1007/s10586 025 05627 z.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 Mohamed Thameem Nizamudeen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“Intelligent intrusion detection framework for multi clouds–IoT environment using swarm based deep learning classifier,”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Cloud Computing, vol. 12, art. no. 134, 2023,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10.1186/s13677 023 00509 4.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Chenchen He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Dongran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Xuexue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“Multimodal large models driven precise perception in complex low altitude UAV environments: A survey on adaptive edge intelligence and swarm collaboration,”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Science, 2025.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Zhang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Ling Yang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Yan Tan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“Energy efficient adaptive routing in heterogeneous wireless sensor networks via hybrid PSO and dynamic clustering,”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Cloud Computing: Advances, Systems and Applications, vol. 14, no. 1, pp. 1–15, Aug. 2025,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10.1186/s13677 02500768 3.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066C-4B02-6894-77E6-F0DA1B3E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F6114072-22CF-C6FA-670F-2A6890EB5B05}"/>
              </a:ext>
            </a:extLst>
          </p:cNvPr>
          <p:cNvSpPr txBox="1"/>
          <p:nvPr/>
        </p:nvSpPr>
        <p:spPr>
          <a:xfrm>
            <a:off x="266700" y="757684"/>
            <a:ext cx="17754600" cy="877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Kimia Abedpour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Mirsaeid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Hosseini Shirvani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Elmira Abedpour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genetic based clustering algorithm for efficient resource allocating of IoT applications in layered fog heterogeneous platforms,”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Computing, vol. 27, no. 2, pp. 1313–1331, 2024,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10.1007/s10586 023 04005 x.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Fatima Achouri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Abdelwahhab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Khatir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Zakarla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Smahi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Roberto Capozucca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Abdelmoumin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Ouled Brahim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“Structural health monitoring of beam model based on swarm intelligence based algorithms and neural networks employing frequency response functions,”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Brazilian Society of Mechanical Sciences and Engineering, vol. 45, art. no. 621, Nov. 2023,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10.1007/s40430 023 04525 y.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Amico et al., “Sharing is caring: Efficient LM post training with collective reinforcement learning experience sharing,”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arXiv:2509.08721, Sep. 2025,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10.48550/arXiv.2509.08721.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Gehad Ismail Sayed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1,6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Mohamed Abd Elfattah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2,6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Ashraf Darwish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3,6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Aboul Ella Hassanlen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4,5,6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“Intelligent and sustainable waste classification model based on multi objective beluga whale optimization and deep learning,”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Science and Pollution Research, vol. 31, pp. 31492–31510, Apr. 2024,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10.1007/s11356 024 33233 w.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Ravi Kishore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 Chandrasekhar Rao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Janmenjoy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Nayak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 S Behera</a:t>
            </a:r>
            <a:r>
              <a:rPr lang="en-US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“Improved particle swarm optimization based bidirectional long short term memory for intrusion detection system in Internet of vehicle,”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Arabian Journal for Science and Engineering, 2024, </a:t>
            </a:r>
            <a:r>
              <a:rPr 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10.1007/s13369 024 09748 2.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Eswara Rao et al., “An intelligent security framework for industrial IoT using swarm based optimized ensemble machine learning model”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computing and digital systems, 2025,Vol 17, NO 3, 1 12, </a:t>
            </a:r>
            <a:r>
              <a:rPr lang="en-US" sz="30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http://dx.doi.org/10.12785/ijcds/1571116746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547A8-3C98-2184-A17D-B666D6FC3E8E}"/>
              </a:ext>
            </a:extLst>
          </p:cNvPr>
          <p:cNvSpPr txBox="1"/>
          <p:nvPr/>
        </p:nvSpPr>
        <p:spPr>
          <a:xfrm>
            <a:off x="4572000" y="-539787"/>
            <a:ext cx="9144000" cy="1405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5000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68900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w="114300" cap="flat">
            <a:solidFill>
              <a:srgbClr val="9FC3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239331" y="4051300"/>
            <a:ext cx="15809337" cy="196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9"/>
              </a:lnSpc>
            </a:pPr>
            <a:r>
              <a:rPr lang="en-US" sz="11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>
            <a:off x="-2627572" y="-733336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1283</Words>
  <Application>Microsoft Office PowerPoint</Application>
  <PresentationFormat>Custom</PresentationFormat>
  <Paragraphs>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Times New Roman</vt:lpstr>
      <vt:lpstr>Open Sans Bold</vt:lpstr>
      <vt:lpstr>Alatsi</vt:lpstr>
      <vt:lpstr>Calibri</vt:lpstr>
      <vt:lpstr>Abhaya Libre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Guided By, Mrs. Prathiba Shanbog</dc:title>
  <dc:creator>ZAHEED</dc:creator>
  <cp:lastModifiedBy>S.M.D ZAHEED HUSSAIN</cp:lastModifiedBy>
  <cp:revision>8</cp:revision>
  <dcterms:created xsi:type="dcterms:W3CDTF">2006-08-16T00:00:00Z</dcterms:created>
  <dcterms:modified xsi:type="dcterms:W3CDTF">2026-06-29T05:19:27Z</dcterms:modified>
  <dc:identifier>DAGuXYJri8k</dc:identifier>
</cp:coreProperties>
</file>